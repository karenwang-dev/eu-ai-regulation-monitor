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product positioning: internal AI platform for Smart TV compliance.</a:t>
            </a:r>
          </a:p>
          <a:p>
            <a:r>
              <a:t>Scope: EU regulation sources for DVB, CI+, HbbTV, and connected devices.</a:t>
            </a:r>
          </a:p>
          <a:p>
            <a:r>
              <a:t>v1.0.0 is the first production-ready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cost of senior engineers doing repetitive monitoring.</a:t>
            </a:r>
          </a:p>
          <a:p>
            <a:r>
              <a:t>Connect to business risk: AI Act, RED, cybersecurity, child-safety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 end-to-end platform, not just a crawler.</a:t>
            </a:r>
          </a:p>
          <a:p>
            <a:r>
              <a:t>Internal Docker deployment; trusted network — no auth in v1.0.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Docker services: dashboard on port 8080 and background scheduler.</a:t>
            </a:r>
          </a:p>
          <a:p>
            <a:r>
              <a:t>Data in data/ volume; config in config/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snapshot = baseline; subsequent runs analyze deltas only.</a:t>
            </a:r>
          </a:p>
          <a:p>
            <a:r>
              <a:t>Human review remains in the loop — AI accelerates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crawl: depth limits, URL ranking, crawl cache.</a:t>
            </a:r>
          </a:p>
          <a:p>
            <a:r>
              <a:t>Demo data available in data/demo/ for walkthroughs.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Time-to-awareness drops from days/weeks to hours.</a:t>
            </a:r>
          </a:p>
          <a:p>
            <a:r>
              <a:t>Use demo JSON files if live API unavailable during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actual dashboard screenshots.</a:t>
            </a:r>
          </a:p>
          <a:p>
            <a:r>
              <a:t>Suggested URLs: /, /knowledge, /insights, /reports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 measured in engineering hours saved and reduced compliance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docs/release_notes_v1.0.md and docs/test_report.md.</a:t>
            </a:r>
          </a:p>
          <a:p>
            <a:r>
              <a:t>Known limitation: no authentication — internal network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v2.0 priorities to be confirmed after v1.0 adoption feedback.</a:t>
            </a:r>
          </a:p>
          <a:p>
            <a:r>
              <a:t>RAG builds on existing knowledge base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timing: ~2.5 min per step.</a:t>
            </a:r>
          </a:p>
          <a:p>
            <a:r>
              <a:t>Backup: use data/demo/ JSON if APIs unavailable.</a:t>
            </a:r>
          </a:p>
          <a:p>
            <a:r>
              <a:t>End with Q&amp;A and /health endpoint if ops questions arise.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Regulation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CDDEE"/>
                </a:solidFill>
              </a:defRPr>
            </a:pPr>
            <a:r>
              <a:t>AI-powered Smart TV Compliance Monitoring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BCC"/>
                </a:solidFill>
              </a:defRPr>
            </a:pPr>
            <a:r>
              <a:t>Version 1.0.0  |  Internal Release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455"/>
                </a:solidFill>
              </a:defRPr>
            </a:pPr>
            <a:r>
              <a:t>Regulations distributed across many official websites — no single source of truth</a:t>
            </a:r>
          </a:p>
          <a:p>
            <a:pPr>
              <a:spcAft>
                <a:spcPts val="1000"/>
              </a:spcAft>
              <a:defRPr sz="1800">
                <a:solidFill>
                  <a:srgbClr val="334455"/>
                </a:solidFill>
              </a:defRPr>
            </a:pPr>
            <a:r>
              <a:t>Manual tracking consumes valuable engineering and compliance time</a:t>
            </a:r>
          </a:p>
          <a:p>
            <a:pPr>
              <a:spcAft>
                <a:spcPts val="1000"/>
              </a:spcAft>
              <a:defRPr sz="1800">
                <a:solidFill>
                  <a:srgbClr val="334455"/>
                </a:solidFill>
              </a:defRPr>
            </a:pPr>
            <a:r>
              <a:t>Hard to quickly assess Smart TV product impact (HbbTV, AI, OTA, cybersecurity)</a:t>
            </a:r>
          </a:p>
          <a:p>
            <a:pPr>
              <a:spcAft>
                <a:spcPts val="1000"/>
              </a:spcAft>
              <a:defRPr sz="1800">
                <a:solidFill>
                  <a:srgbClr val="334455"/>
                </a:solidFill>
              </a:defRPr>
            </a:pPr>
            <a:r>
              <a:t>Risk of missing high-impact compliance changes before release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Monitor → Understand →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4160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800" b="1">
                <a:solidFill>
                  <a:srgbClr val="0B3D6B"/>
                </a:solidFill>
              </a:defRPr>
            </a:pPr>
            <a:r>
              <a:t>Automated Monitoring</a:t>
            </a:r>
          </a:p>
          <a:p>
            <a:pPr>
              <a:spcBef>
                <a:spcPts val="800"/>
              </a:spcBef>
              <a:defRPr sz="1400">
                <a:solidFill>
                  <a:srgbClr val="334455"/>
                </a:solidFill>
              </a:defRPr>
            </a:pPr>
            <a:r>
              <a:t>Daily/weekly scheduled crawls of official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1417320"/>
            <a:ext cx="4160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800" b="1">
                <a:solidFill>
                  <a:srgbClr val="0B3D6B"/>
                </a:solidFill>
              </a:defRPr>
            </a:pPr>
            <a:r>
              <a:t>AI Understanding</a:t>
            </a:r>
          </a:p>
          <a:p>
            <a:pPr>
              <a:spcBef>
                <a:spcPts val="800"/>
              </a:spcBef>
              <a:defRPr sz="1400">
                <a:solidFill>
                  <a:srgbClr val="334455"/>
                </a:solidFill>
              </a:defRPr>
            </a:pPr>
            <a:r>
              <a:t>LLM interprets changes and extracts 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4160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800" b="1">
                <a:solidFill>
                  <a:srgbClr val="0B3D6B"/>
                </a:solidFill>
              </a:defRPr>
            </a:pPr>
            <a:r>
              <a:t>Impact Analysis</a:t>
            </a:r>
          </a:p>
          <a:p>
            <a:pPr>
              <a:spcBef>
                <a:spcPts val="800"/>
              </a:spcBef>
              <a:defRPr sz="1400">
                <a:solidFill>
                  <a:srgbClr val="334455"/>
                </a:solidFill>
              </a:defRPr>
            </a:pPr>
            <a:r>
              <a:t>Risk levels + affected Smart TV modules +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59" y="3566160"/>
            <a:ext cx="4160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800" b="1">
                <a:solidFill>
                  <a:srgbClr val="0B3D6B"/>
                </a:solidFill>
              </a:defRPr>
            </a:pPr>
            <a:r>
              <a:t>Knowledge &amp; Reports</a:t>
            </a:r>
          </a:p>
          <a:p>
            <a:pPr>
              <a:spcBef>
                <a:spcPts val="800"/>
              </a:spcBef>
              <a:defRPr sz="1400">
                <a:solidFill>
                  <a:srgbClr val="334455"/>
                </a:solidFill>
              </a:defRPr>
            </a:pPr>
            <a:r>
              <a:t>Searchable knowledge base + weekly AI executive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00400" cy="47548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Regulation Sources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2176272" y="1728216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200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Smart Crawler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76272" y="2368296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3200400" cy="47548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Change Detection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76272" y="3008376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154679"/>
            <a:ext cx="3200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AI Regulation Analysis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76272" y="3648456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3200400" cy="47548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Knowledge Base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176272" y="4288536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3200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Compliance Insight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76272" y="4928615"/>
            <a:ext cx="219456" cy="128015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5074919"/>
            <a:ext cx="3200400" cy="47548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Reports &amp;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3258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455"/>
                </a:solidFill>
              </a:defRPr>
            </a:pPr>
            <a:r>
              <a:t>• Dashboard (FastAPI) + Scheduler (APScheduler)</a:t>
            </a:r>
          </a:p>
          <a:p>
            <a:pPr>
              <a:spcAft>
                <a:spcPts val="800"/>
              </a:spcAft>
              <a:defRPr sz="1500">
                <a:solidFill>
                  <a:srgbClr val="334455"/>
                </a:solidFill>
              </a:defRPr>
            </a:pPr>
            <a:r>
              <a:t>• Firecrawl crawling with cache &amp; link discovery</a:t>
            </a:r>
          </a:p>
          <a:p>
            <a:pPr>
              <a:spcAft>
                <a:spcPts val="800"/>
              </a:spcAft>
              <a:defRPr sz="1500">
                <a:solidFill>
                  <a:srgbClr val="334455"/>
                </a:solidFill>
              </a:defRPr>
            </a:pPr>
            <a:r>
              <a:t>• SQLite storage + snapshot diffs</a:t>
            </a:r>
          </a:p>
          <a:p>
            <a:pPr>
              <a:spcAft>
                <a:spcPts val="800"/>
              </a:spcAft>
              <a:defRPr sz="1500">
                <a:solidFill>
                  <a:srgbClr val="334455"/>
                </a:solidFill>
              </a:defRPr>
            </a:pPr>
            <a:r>
              <a:t>• OpenAI impact analysis &amp; extraction</a:t>
            </a:r>
          </a:p>
          <a:p>
            <a:pPr>
              <a:spcAft>
                <a:spcPts val="800"/>
              </a:spcAft>
              <a:defRPr sz="1500">
                <a:solidFill>
                  <a:srgbClr val="334455"/>
                </a:solidFill>
              </a:defRPr>
            </a:pPr>
            <a:r>
              <a:t>• Optional SMTP email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Analysis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25880"/>
            <a:ext cx="4023360" cy="530352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Website / PDF</a:t>
            </a:r>
          </a:p>
        </p:txBody>
      </p:sp>
      <p:sp>
        <p:nvSpPr>
          <p:cNvPr id="5" name="Down Arrow 4"/>
          <p:cNvSpPr/>
          <p:nvPr/>
        </p:nvSpPr>
        <p:spPr>
          <a:xfrm>
            <a:off x="4462272" y="1874519"/>
            <a:ext cx="219456" cy="146304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2039112"/>
            <a:ext cx="402336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Crawler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62272" y="2587752"/>
            <a:ext cx="219456" cy="146304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2752344"/>
            <a:ext cx="4023360" cy="530352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Diff Detection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62272" y="3300984"/>
            <a:ext cx="219456" cy="146304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3465576"/>
            <a:ext cx="402336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Regulation Extraction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4014215"/>
            <a:ext cx="219456" cy="146304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4178808"/>
            <a:ext cx="4023360" cy="530352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Impact Analysis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62272" y="4727448"/>
            <a:ext cx="219456" cy="146304"/>
          </a:xfrm>
          <a:prstGeom prst="down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4892040"/>
            <a:ext cx="402336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Engineering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AI Regulation Monitor v1.0.0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Smart Crawl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PDF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Source Traceability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Knowledge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283464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Search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83464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Compliance Insight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83464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343400"/>
            <a:ext cx="260604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B3D6B"/>
                </a:solidFill>
              </a:defRPr>
            </a:pPr>
            <a:r>
              <a:t>Weekly AI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2606040" cy="10972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EU AI Act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931920" cy="4389120"/>
          </a:xfrm>
          <a:prstGeom prst="roundRect">
            <a:avLst/>
          </a:prstGeom>
          <a:solidFill>
            <a:srgbClr val="FDF2F2"/>
          </a:solidFill>
          <a:ln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/>
          <a:lstStyle/>
          <a:p>
            <a:pPr algn="ctr">
              <a:defRPr sz="2000" b="1">
                <a:solidFill>
                  <a:srgbClr val="993333"/>
                </a:solidFill>
              </a:defRPr>
            </a:pPr>
            <a:r>
              <a:t>Before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Engineer manually checks EU websites weekly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Notices wording change without clear product mapping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Delayed email discussion across teams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Inconsistent action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371600"/>
            <a:ext cx="3931920" cy="4389120"/>
          </a:xfrm>
          <a:prstGeom prst="roundRect">
            <a:avLst/>
          </a:prstGeom>
          <a:solidFill>
            <a:srgbClr val="F0FAF4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/>
          <a:lstStyle/>
          <a:p>
            <a:pPr algn="ctr">
              <a:defRPr sz="2000" b="1">
                <a:solidFill>
                  <a:srgbClr val="227744"/>
                </a:solidFill>
              </a:defRPr>
            </a:pPr>
            <a:r>
              <a:t>After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Automatic detection on next scheduled run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AI analysis: MEDIUM impact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Modules: AI features, Voice assistant, Cybersecurity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Recommended engineering actions generated</a:t>
            </a:r>
          </a:p>
          <a:p>
            <a:pPr>
              <a:spcBef>
                <a:spcPts val="600"/>
              </a:spcBef>
              <a:defRPr sz="1400">
                <a:solidFill>
                  <a:srgbClr val="334455"/>
                </a:solidFill>
              </a:defRPr>
            </a:pPr>
            <a:r>
              <a:t>• Available in Dashboard, Knowledge Base &amp; Report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15968" y="3246120"/>
            <a:ext cx="502920" cy="411480"/>
          </a:xfrm>
          <a:prstGeom prst="rightArrow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Insert screenshots before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325880" cy="1463040"/>
          </a:xfrm>
          <a:prstGeom prst="rect">
            <a:avLst/>
          </a:prstGeom>
          <a:solidFill>
            <a:srgbClr val="DDE6EF"/>
          </a:solidFill>
          <a:ln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788"/>
                </a:solidFill>
              </a:defRPr>
            </a:pPr>
            <a:r>
              <a:t>[Screenshot placeholder]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417320"/>
            <a:ext cx="196596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920240"/>
            <a:ext cx="1325880" cy="1463040"/>
          </a:xfrm>
          <a:prstGeom prst="rect">
            <a:avLst/>
          </a:prstGeom>
          <a:solidFill>
            <a:srgbClr val="DDE6EF"/>
          </a:solidFill>
          <a:ln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356616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931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788"/>
                </a:solidFill>
              </a:defRPr>
            </a:pPr>
            <a:r>
              <a:t>[Screenshot placeholder]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417320"/>
            <a:ext cx="196596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1325880" cy="1463040"/>
          </a:xfrm>
          <a:prstGeom prst="rect">
            <a:avLst/>
          </a:prstGeom>
          <a:solidFill>
            <a:srgbClr val="DDE6EF"/>
          </a:solidFill>
          <a:ln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56616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788"/>
                </a:solidFill>
              </a:defRPr>
            </a:pPr>
            <a:r>
              <a:t>[Screenshot placeholder]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417320"/>
            <a:ext cx="196596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1920240"/>
            <a:ext cx="1325880" cy="1463040"/>
          </a:xfrm>
          <a:prstGeom prst="rect">
            <a:avLst/>
          </a:prstGeom>
          <a:solidFill>
            <a:srgbClr val="DDE6EF"/>
          </a:solidFill>
          <a:ln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56616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3D6B"/>
                </a:solidFill>
              </a:defRPr>
            </a:pPr>
            <a: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31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788"/>
                </a:solidFill>
              </a:defRPr>
            </a:pPr>
            <a:r>
              <a:t>[Screenshot placeholder]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7788"/>
                </a:solidFill>
              </a:defRPr>
            </a:pPr>
            <a:r>
              <a:t>Tip: Capture live screenshots from http://localhost:8080 before the management meeting.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99032"/>
            <a:ext cx="411480" cy="411480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3D6B"/>
                </a:solidFill>
              </a:defRPr>
            </a:pPr>
            <a:r>
              <a:t>Reduce manual monitoring effort</a:t>
            </a:r>
          </a:p>
          <a:p>
            <a:pPr>
              <a:spcBef>
                <a:spcPts val="400"/>
              </a:spcBef>
              <a:defRPr sz="1400">
                <a:solidFill>
                  <a:srgbClr val="334455"/>
                </a:solidFill>
              </a:defRPr>
            </a:pPr>
            <a:r>
              <a:t>Free engineers from repetitive website checks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633472"/>
            <a:ext cx="411480" cy="411480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3D6B"/>
                </a:solidFill>
              </a:defRPr>
            </a:pPr>
            <a:r>
              <a:t>Improve compliance visibility</a:t>
            </a:r>
          </a:p>
          <a:p>
            <a:pPr>
              <a:spcBef>
                <a:spcPts val="400"/>
              </a:spcBef>
              <a:defRPr sz="1400">
                <a:solidFill>
                  <a:srgbClr val="334455"/>
                </a:solidFill>
              </a:defRPr>
            </a:pPr>
            <a:r>
              <a:t>Central dashboard with risk breakdown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67912"/>
            <a:ext cx="411480" cy="411480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3D6B"/>
                </a:solidFill>
              </a:defRPr>
            </a:pPr>
            <a:r>
              <a:t>Build reusable knowledge assets</a:t>
            </a:r>
          </a:p>
          <a:p>
            <a:pPr>
              <a:spcBef>
                <a:spcPts val="400"/>
              </a:spcBef>
              <a:defRPr sz="1400">
                <a:solidFill>
                  <a:srgbClr val="334455"/>
                </a:solidFill>
              </a:defRPr>
            </a:pPr>
            <a:r>
              <a:t>Institutional memory across team changes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5102352"/>
            <a:ext cx="411480" cy="411480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3D6B"/>
                </a:solidFill>
              </a:defRPr>
            </a:pPr>
            <a:r>
              <a:t>Faster engineering decisions</a:t>
            </a:r>
          </a:p>
          <a:p>
            <a:pPr>
              <a:spcBef>
                <a:spcPts val="400"/>
              </a:spcBef>
              <a:defRPr sz="1400">
                <a:solidFill>
                  <a:srgbClr val="334455"/>
                </a:solidFill>
              </a:defRPr>
            </a:pPr>
            <a:r>
              <a:t>Impact levels, modules, and actions ready to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AI Regulation Monitor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455"/>
                </a:solidFill>
              </a:defRPr>
            </a:pPr>
            <a:r>
              <a:t>✓  261 automated tests passed</a:t>
            </a:r>
          </a:p>
          <a:p>
            <a:pPr>
              <a:spcAft>
                <a:spcPts val="1000"/>
              </a:spcAft>
              <a:defRPr sz="2000">
                <a:solidFill>
                  <a:srgbClr val="334455"/>
                </a:solidFill>
              </a:defRPr>
            </a:pPr>
            <a:r>
              <a:t>✓  Docker deployment (dashboard + scheduler)</a:t>
            </a:r>
          </a:p>
          <a:p>
            <a:pPr>
              <a:spcAft>
                <a:spcPts val="1000"/>
              </a:spcAft>
              <a:defRPr sz="2000">
                <a:solidFill>
                  <a:srgbClr val="334455"/>
                </a:solidFill>
              </a:defRPr>
            </a:pPr>
            <a:r>
              <a:t>✓  Health monitoring &amp; configuration validation</a:t>
            </a:r>
          </a:p>
          <a:p>
            <a:pPr>
              <a:spcAft>
                <a:spcPts val="1000"/>
              </a:spcAft>
              <a:defRPr sz="2000">
                <a:solidFill>
                  <a:srgbClr val="334455"/>
                </a:solidFill>
              </a:defRPr>
            </a:pPr>
            <a:r>
              <a:t>✓  Automated weekly AI reports with optional email</a:t>
            </a:r>
          </a:p>
          <a:p>
            <a:pPr>
              <a:spcAft>
                <a:spcPts val="1000"/>
              </a:spcAft>
              <a:defRPr sz="2000">
                <a:solidFill>
                  <a:srgbClr val="334455"/>
                </a:solidFill>
              </a:defRPr>
            </a:pPr>
            <a:r>
              <a:t>✓  Full documentation package (architecture, user guide, deployment)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286000" cy="2286000"/>
          </a:xfrm>
          <a:prstGeom prst="round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v1.0.0</a:t>
            </a:r>
          </a:p>
          <a:p>
            <a:pPr algn="ctr">
              <a:defRPr sz="1400">
                <a:solidFill>
                  <a:srgbClr val="007A8C"/>
                </a:solidFill>
              </a:defRPr>
            </a:pPr>
            <a:r>
              <a:t>RELEASE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v2.0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4455"/>
                </a:solidFill>
              </a:defRPr>
            </a:pPr>
            <a:r>
              <a:t>→  RAG chatbot — natural-language queries over regulation knowledge</a:t>
            </a:r>
          </a:p>
          <a:p>
            <a:pPr>
              <a:spcAft>
                <a:spcPts val="1000"/>
              </a:spcAft>
              <a:defRPr sz="1700">
                <a:solidFill>
                  <a:srgbClr val="334455"/>
                </a:solidFill>
              </a:defRPr>
            </a:pPr>
            <a:r>
              <a:t>→  Vector search — semantic similarity across documents</a:t>
            </a:r>
          </a:p>
          <a:p>
            <a:pPr>
              <a:spcAft>
                <a:spcPts val="1000"/>
              </a:spcAft>
              <a:defRPr sz="1700">
                <a:solidFill>
                  <a:srgbClr val="334455"/>
                </a:solidFill>
              </a:defRPr>
            </a:pPr>
            <a:r>
              <a:t>→  Jira integration — auto-create compliance tasks from changes</a:t>
            </a:r>
          </a:p>
          <a:p>
            <a:pPr>
              <a:spcAft>
                <a:spcPts val="1000"/>
              </a:spcAft>
              <a:defRPr sz="1700">
                <a:solidFill>
                  <a:srgbClr val="334455"/>
                </a:solidFill>
              </a:defRPr>
            </a:pPr>
            <a:r>
              <a:t>→  Teams notification — alerts for high-impact updates</a:t>
            </a:r>
          </a:p>
          <a:p>
            <a:pPr>
              <a:spcAft>
                <a:spcPts val="1000"/>
              </a:spcAft>
              <a:defRPr sz="1700">
                <a:solidFill>
                  <a:srgbClr val="334455"/>
                </a:solidFill>
              </a:defRPr>
            </a:pPr>
            <a:r>
              <a:t>→  Multi-language regulations — beyond English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349240"/>
            <a:ext cx="81381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5230368"/>
            <a:ext cx="256032" cy="25603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5321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455"/>
                </a:solidFill>
              </a:defRPr>
            </a:pPr>
            <a:r>
              <a:t>v1.0</a:t>
            </a:r>
            <a:br/>
            <a:r>
              <a:t>Monitor &amp; Report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5230368"/>
            <a:ext cx="256032" cy="25603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55321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455"/>
                </a:solidFill>
              </a:defRPr>
            </a:pPr>
            <a:r>
              <a:t>v2.0</a:t>
            </a:r>
            <a:br/>
            <a:r>
              <a:t>Ask &amp; Integrate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15-minute live walkthrough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62456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280160"/>
            <a:ext cx="731520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Add regulation source (Manage Monitors)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" y="1709928"/>
            <a:ext cx="0" cy="420624"/>
          </a:xfrm>
          <a:prstGeom prst="line">
            <a:avLst/>
          </a:prstGeom>
          <a:ln w="25400">
            <a:solidFill>
              <a:srgbClr val="00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2130552"/>
            <a:ext cx="384048" cy="384048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084832"/>
            <a:ext cx="7315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Run monitoring (run-once or scheduler)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" y="2514600"/>
            <a:ext cx="0" cy="420624"/>
          </a:xfrm>
          <a:prstGeom prst="line">
            <a:avLst/>
          </a:prstGeom>
          <a:ln w="25400">
            <a:solidFill>
              <a:srgbClr val="00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2889504"/>
            <a:ext cx="731520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Review detected change (Changes page)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" y="3319272"/>
            <a:ext cx="0" cy="420624"/>
          </a:xfrm>
          <a:prstGeom prst="line">
            <a:avLst/>
          </a:prstGeom>
          <a:ln w="25400">
            <a:solidFill>
              <a:srgbClr val="00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080" y="3739896"/>
            <a:ext cx="384048" cy="384048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76472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694176"/>
            <a:ext cx="7315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View AI impact analysis (Change detail)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" y="4123944"/>
            <a:ext cx="0" cy="420624"/>
          </a:xfrm>
          <a:prstGeom prst="line">
            <a:avLst/>
          </a:prstGeom>
          <a:ln w="25400">
            <a:solidFill>
              <a:srgbClr val="00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4544568"/>
            <a:ext cx="384048" cy="384048"/>
          </a:xfrm>
          <a:prstGeom prst="ellipse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81144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498848"/>
            <a:ext cx="731520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Search knowledge (Knowledge Base)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" y="4928616"/>
            <a:ext cx="0" cy="420624"/>
          </a:xfrm>
          <a:prstGeom prst="line">
            <a:avLst/>
          </a:prstGeom>
          <a:ln w="25400">
            <a:solidFill>
              <a:srgbClr val="00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85816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5303520"/>
            <a:ext cx="7315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4455"/>
                </a:solidFill>
              </a:defRPr>
            </a:pPr>
            <a:r>
              <a:t>Generate weekly report (Reports page)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